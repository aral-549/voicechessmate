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0E5FF"/>
                </a:solidFill>
              </a:defRPr>
            </a:pPr>
            <a:r>
              <a:t>HACKDEVENGERS 2.0 // ACCESSIBLE ASSISTIVE AI</a:t>
            </a:r>
          </a:p>
          <a:p>
            <a:pPr>
              <a:spcAft>
                <a:spcPts val="1400"/>
              </a:spcAft>
              <a:defRPr sz="5800" b="1">
                <a:solidFill>
                  <a:srgbClr val="F8FAFC"/>
                </a:solidFill>
              </a:defRPr>
            </a:pPr>
            <a:r>
              <a:t>VoiceChessmate</a:t>
            </a:r>
          </a:p>
          <a:p>
            <a:pPr>
              <a:spcAft>
                <a:spcPts val="1800"/>
              </a:spcAft>
              <a:defRPr sz="2300">
                <a:solidFill>
                  <a:srgbClr val="00E5FF"/>
                </a:solidFill>
              </a:defRPr>
            </a:pPr>
            <a:r>
              <a:t>Eyes-Free, Voice-First Chess Companion for 285M Visually Impaired Players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Stockfish 16 Engine Core • Dual-Path Audio Architecture • FIDE &amp; IBCA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846320"/>
            <a:ext cx="3246120" cy="118872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E5FF"/>
                </a:solidFill>
              </a:defRPr>
            </a:pPr>
            <a:r>
              <a:t>100% Screen-Free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Full conversational gameplay without a display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62272" y="4846320"/>
            <a:ext cx="3246120" cy="118872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&lt; 40ms De-Collision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Zero dropped speech synthesis moves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4846320"/>
            <a:ext cx="3246120" cy="118872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IBCA Compliant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Official international blind chess phonetics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HACKDEVENGERS 2.0 // VOICECHESSMATE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Problem: Digital Chess Excludes Blind Players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328416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664208"/>
            <a:ext cx="2852928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1. Heavy Visual Lock-In</a:t>
            </a:r>
          </a:p>
          <a:p>
            <a:pPr>
              <a:spcAft>
                <a:spcPts val="800"/>
              </a:spcAft>
              <a:defRPr sz="1000" b="1">
                <a:solidFill>
                  <a:srgbClr val="F43F5E"/>
                </a:solidFill>
              </a:defRPr>
            </a:pPr>
            <a:r>
              <a:t>SYSTEMIC EXCLUSION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Chess.com &amp; Lichess require continuous 2D visual eye-tracking across 64 squares.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Board state, clocks, and attack vectors require 100% sight.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Under Blitz &amp; Rapid clocks, playing without sight leads to immediate flag-fall.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285M visually impaired people are shut out from digital competitive play.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64208"/>
            <a:ext cx="2852928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2. Screen Reader Friction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SLUGGISH LATENCY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Generic screen readers (NVDA, VoiceOver) lack chess-specific intelligence.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They read entire HTML DOM tables cell-by-cell instead of tactical game state.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Causes 6 to 10 seconds of cognitive delay per move.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Zero spatial awareness of pins, forks, threats, or open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1463040"/>
            <a:ext cx="3328416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5" y="1664208"/>
            <a:ext cx="2852928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3. Browser Audio Drops</a:t>
            </a:r>
          </a:p>
          <a:p>
            <a:pPr>
              <a:spcAft>
                <a:spcPts val="800"/>
              </a:spcAft>
              <a:defRPr sz="1000" b="1">
                <a:solidFill>
                  <a:srgbClr val="00E5FF"/>
                </a:solidFill>
              </a:defRPr>
            </a:pPr>
            <a:r>
              <a:t>FATAL RELIABILITY FLAW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Chromium V8 garbage collection silently drops speech synthesis wrappers mid-sentence.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Calling cancel() before speak() drops moves due to async Chrome IPC race conditions.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Missing a single 'Check!' announcement results in immediate game forfeiture.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HACKDEVENGERS 2.0 // VOICECHESSMATE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Solution: Voice-First Accessible Chess Companion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074920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664208"/>
            <a:ext cx="4599432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Conversational Voice Gameplay</a:t>
            </a:r>
          </a:p>
          <a:p>
            <a:pPr>
              <a:spcAft>
                <a:spcPts val="800"/>
              </a:spcAft>
              <a:defRPr sz="1000" b="1">
                <a:solidFill>
                  <a:srgbClr val="00E5FF"/>
                </a:solidFill>
              </a:defRPr>
            </a:pPr>
            <a:r>
              <a:t>NATURAL AUDITORY INTERACTION</a:t>
            </a:r>
          </a:p>
          <a:p>
            <a:pPr>
              <a:lnSpc>
                <a:spcPct val="112000"/>
              </a:lnSpc>
              <a:spcBef>
                <a:spcPts val="700"/>
              </a:spcBef>
              <a:defRPr sz="1500">
                <a:solidFill>
                  <a:srgbClr val="F8FAFC"/>
                </a:solidFill>
              </a:defRPr>
            </a:pPr>
            <a:r>
              <a:t>• Speak moves naturally: 'Knight to f3', 'Castle kingside', or 'Cesar 4'.</a:t>
            </a:r>
          </a:p>
          <a:p>
            <a:pPr>
              <a:lnSpc>
                <a:spcPct val="112000"/>
              </a:lnSpc>
              <a:spcBef>
                <a:spcPts val="700"/>
              </a:spcBef>
              <a:defRPr sz="1500">
                <a:solidFill>
                  <a:srgbClr val="F8FAFC"/>
                </a:solidFill>
              </a:defRPr>
            </a:pPr>
            <a:r>
              <a:t>• Instant auditory confirmation with standardized IBCA phonetic coordinates.</a:t>
            </a:r>
          </a:p>
          <a:p>
            <a:pPr>
              <a:lnSpc>
                <a:spcPct val="112000"/>
              </a:lnSpc>
              <a:spcBef>
                <a:spcPts val="700"/>
              </a:spcBef>
              <a:defRPr sz="1500">
                <a:solidFill>
                  <a:srgbClr val="F8FAFC"/>
                </a:solidFill>
              </a:defRPr>
            </a:pPr>
            <a:r>
              <a:t>• Guaranteed opponent move announcements: 'Opponent responds: Queen David 5. Your turn.'</a:t>
            </a:r>
          </a:p>
          <a:p>
            <a:pPr>
              <a:lnSpc>
                <a:spcPct val="112000"/>
              </a:lnSpc>
              <a:spcBef>
                <a:spcPts val="700"/>
              </a:spcBef>
              <a:defRPr sz="1500">
                <a:solidFill>
                  <a:srgbClr val="F8FAFC"/>
                </a:solidFill>
              </a:defRPr>
            </a:pPr>
            <a:r>
              <a:t>• Push-to-Talk (Spacebar): Instantly cuts speech output and opens mic without audio collisions.</a:t>
            </a:r>
          </a:p>
          <a:p>
            <a:pPr>
              <a:lnSpc>
                <a:spcPct val="112000"/>
              </a:lnSpc>
              <a:spcBef>
                <a:spcPts val="700"/>
              </a:spcBef>
              <a:defRPr sz="1500">
                <a:solidFill>
                  <a:srgbClr val="F8FAFC"/>
                </a:solidFill>
              </a:defRPr>
            </a:pPr>
            <a:r>
              <a:t>• Zero visual display required: Complete autonomy from move one to checkmate.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074920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1384" y="1664208"/>
            <a:ext cx="4599432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Tactile Spatial Queries &amp; Hotkeys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REAL-TIME SPATIAL INTELLIGENCE</a:t>
            </a:r>
          </a:p>
          <a:p>
            <a:pPr>
              <a:lnSpc>
                <a:spcPct val="112000"/>
              </a:lnSpc>
              <a:spcBef>
                <a:spcPts val="700"/>
              </a:spcBef>
              <a:defRPr sz="1500">
                <a:solidFill>
                  <a:srgbClr val="F8FAFC"/>
                </a:solidFill>
              </a:defRPr>
            </a:pPr>
            <a:r>
              <a:t>• [D] Describe Board: Full board piece audit or rank-by-rank auditory scan.</a:t>
            </a:r>
          </a:p>
          <a:p>
            <a:pPr>
              <a:lnSpc>
                <a:spcPct val="112000"/>
              </a:lnSpc>
              <a:spcBef>
                <a:spcPts val="700"/>
              </a:spcBef>
              <a:defRPr sz="1500">
                <a:solidFill>
                  <a:srgbClr val="F8FAFC"/>
                </a:solidFill>
              </a:defRPr>
            </a:pPr>
            <a:r>
              <a:t>• [T] Tactical Threats: Immediate audio breakdown of targeted pieces and hostile forks.</a:t>
            </a:r>
          </a:p>
          <a:p>
            <a:pPr>
              <a:lnSpc>
                <a:spcPct val="112000"/>
              </a:lnSpc>
              <a:spcBef>
                <a:spcPts val="700"/>
              </a:spcBef>
              <a:defRPr sz="1500">
                <a:solidFill>
                  <a:srgbClr val="F8FAFC"/>
                </a:solidFill>
              </a:defRPr>
            </a:pPr>
            <a:r>
              <a:t>• [O] Own Pieces: Fast summary of player piece locations and active mobility.</a:t>
            </a:r>
          </a:p>
          <a:p>
            <a:pPr>
              <a:lnSpc>
                <a:spcPct val="112000"/>
              </a:lnSpc>
              <a:spcBef>
                <a:spcPts val="700"/>
              </a:spcBef>
              <a:defRPr sz="1500">
                <a:solidFill>
                  <a:srgbClr val="F8FAFC"/>
                </a:solidFill>
              </a:defRPr>
            </a:pPr>
            <a:r>
              <a:t>• [C] Captured Differential: Instant material balance count (e.g., 'White up +3 pawns').</a:t>
            </a:r>
          </a:p>
          <a:p>
            <a:pPr>
              <a:lnSpc>
                <a:spcPct val="112000"/>
              </a:lnSpc>
              <a:spcBef>
                <a:spcPts val="700"/>
              </a:spcBef>
              <a:defRPr sz="1500">
                <a:solidFill>
                  <a:srgbClr val="F8FAFC"/>
                </a:solidFill>
              </a:defRPr>
            </a:pPr>
            <a:r>
              <a:t>• Enables rapid, eyes-free mental visualization under timed competitive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HACKDEVENGERS 2.0 // VOICECHESSMATE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Engineering: 4 Pillars of the Speech Output Guarantee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074920" cy="233172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664208"/>
            <a:ext cx="4599432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1. V8 Utterance Garbage Retention</a:t>
            </a:r>
          </a:p>
          <a:p>
            <a:pPr>
              <a:spcAft>
                <a:spcPts val="800"/>
              </a:spcAft>
              <a:defRPr sz="1000" b="1">
                <a:solidFill>
                  <a:srgbClr val="00E5FF"/>
                </a:solidFill>
              </a:defRPr>
            </a:pPr>
            <a:r>
              <a:t>ELIMINATES SPEECH CUTOFF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Module-level Set&lt;SpeechSynthesisUtterance&gt; retains wrapper objects.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Prevents Chrome V8 GC from silently cutting off speech mid-sentence.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074920" cy="233172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1384" y="1664208"/>
            <a:ext cx="4599432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2. Chrome IPC Cancel-Speak Race Fix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40MS SETTLING BUFFER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Enforces a 40ms asynchronous IPC settling delay between cancel() and speak().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Guarantees rapid move announcements are never swallowed by browser IPC races.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39"/>
            <a:ext cx="5074920" cy="233172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178807"/>
            <a:ext cx="4599432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3. Dual-Path Fallback Coordinator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1200MS AUTOMATIC FALLBACK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Monitors streaming WebSocket audio in real time.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Automatically triggers local Web Speech API TTS if stream is silent &gt; 1200ms.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977639"/>
            <a:ext cx="5074920" cy="233172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4178807"/>
            <a:ext cx="4599432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4. Watchdog &amp; 4-Tier Priority Queue</a:t>
            </a:r>
          </a:p>
          <a:p>
            <a:pPr>
              <a:spcAft>
                <a:spcPts val="800"/>
              </a:spcAft>
              <a:defRPr sz="1000" b="1">
                <a:solidFill>
                  <a:srgbClr val="F43F5E"/>
                </a:solidFill>
              </a:defRPr>
            </a:pPr>
            <a:r>
              <a:t>QUEUE PREEMPTION &amp; AUTO-RECOVERY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Non-leaking watchdog monitors paused state and unfreezes stuck synthesis queues.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4-tier queue (Urgent &gt; High &gt; Normal &gt; Low) prioritizes moves over descriptions.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HACKDEVENGERS 2.0 // VOICECHESSMATE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Accessibility Standards: Official FIDE &amp; IBCA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074920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664208"/>
            <a:ext cx="4599432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Official IBCA Phonetic Matrix</a:t>
            </a:r>
          </a:p>
          <a:p>
            <a:pPr>
              <a:spcAft>
                <a:spcPts val="800"/>
              </a:spcAft>
              <a:defRPr sz="1000" b="1">
                <a:solidFill>
                  <a:srgbClr val="00E5FF"/>
                </a:solidFill>
              </a:defRPr>
            </a:pPr>
            <a:r>
              <a:t>FIDE BLIND CHESS STANDARD 2.1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>
                <a:solidFill>
                  <a:srgbClr val="F8FAFC"/>
                </a:solidFill>
              </a:defRPr>
            </a:pPr>
            <a:r>
              <a:t>• International Blind Chess Association (IBCA) standard naming: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>
                <a:solidFill>
                  <a:srgbClr val="F8FAFC"/>
                </a:solidFill>
              </a:defRPr>
            </a:pPr>
            <a:r>
              <a:t>• Anna (A), Bella (B), Cesar (C), David (D)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>
                <a:solidFill>
                  <a:srgbClr val="F8FAFC"/>
                </a:solidFill>
              </a:defRPr>
            </a:pPr>
            <a:r>
              <a:t>• Eva (E), Felix (F), Gustav (G), Hector (H)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>
                <a:solidFill>
                  <a:srgbClr val="F8FAFC"/>
                </a:solidFill>
              </a:defRPr>
            </a:pPr>
            <a:r>
              <a:t>• Eliminates acoustic confusion between B/C/D/E/G in loud environments.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>
                <a:solidFill>
                  <a:srgbClr val="F8FAFC"/>
                </a:solidFill>
              </a:defRPr>
            </a:pPr>
            <a:r>
              <a:t>• Example: 'b1-c3' is spoken as 'Knight Bella 1 to Cesar 3'.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>
                <a:solidFill>
                  <a:srgbClr val="F8FAFC"/>
                </a:solidFill>
              </a:defRPr>
            </a:pPr>
            <a:r>
              <a:t>• Universal standard accepted in blind tournaments globally.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074920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1384" y="1664208"/>
            <a:ext cx="4599432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Strict Auditory Narration Contract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UNAMBIGUOUS AUDIO CONTRACT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>
                <a:solidFill>
                  <a:srgbClr val="F8FAFC"/>
                </a:solidFill>
              </a:defRPr>
            </a:pPr>
            <a:r>
              <a:t>• Invariant Opponent Move Format: Always prefixes 'Opponent responds: &lt;move&gt;. Your turn.'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>
                <a:solidFill>
                  <a:srgbClr val="F8FAFC"/>
                </a:solidFill>
              </a:defRPr>
            </a:pPr>
            <a:r>
              <a:t>• Terminal State Turn Suppression: The cue 'Your turn.' is strictly omitted on Checkmate, Stalemate, or Draw.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>
                <a:solidFill>
                  <a:srgbClr val="F8FAFC"/>
                </a:solidFill>
              </a:defRPr>
            </a:pPr>
            <a:r>
              <a:t>• High-Priority Alerts: Immediate verbal priority for Check, Checkmate, and En Passant captures.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500">
                <a:solidFill>
                  <a:srgbClr val="F8FAFC"/>
                </a:solidFill>
              </a:defRPr>
            </a:pPr>
            <a:r>
              <a:t>• Zero Fluff, Zero Latency: Concise, unambiguous military-style chess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HACKDEVENGERS 2.0 // VOICECHESSMATE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Architecture: End-to-End Control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2468880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664208"/>
            <a:ext cx="1993392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1. Sensory Input</a:t>
            </a:r>
          </a:p>
          <a:p>
            <a:pPr>
              <a:spcAft>
                <a:spcPts val="800"/>
              </a:spcAft>
              <a:defRPr sz="1000" b="1">
                <a:solidFill>
                  <a:srgbClr val="00E5FF"/>
                </a:solidFill>
              </a:defRPr>
            </a:pPr>
            <a:r>
              <a:t>INPUT LAYER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Push-to-Talk microphone stream.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Tactile single-key hotkeys (D, T, O, C).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Instant audio cutoff interrupt hook.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Zero visual UI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463040"/>
            <a:ext cx="2468880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4" y="1664208"/>
            <a:ext cx="1993392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2. Voice AI</a:t>
            </a:r>
          </a:p>
          <a:p>
            <a:pPr>
              <a:spcAft>
                <a:spcPts val="800"/>
              </a:spcAft>
              <a:defRPr sz="1000" b="1">
                <a:solidFill>
                  <a:srgbClr val="2563EB"/>
                </a:solidFill>
              </a:defRPr>
            </a:pPr>
            <a:r>
              <a:t>CONVERSATIONAL LAYER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Low-latency Speech-to-Text parsing.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Automated Voice Activity Detection.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Tool calling schema for legal moves.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Contextual board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664208"/>
            <a:ext cx="1993392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3. Chess Core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VALIDATION LAYER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Stockfish 16 WASM evaluation engine.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Chess.js legal move validation.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IBCA phonetic coordinate translator.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FEN game state manager.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463040"/>
            <a:ext cx="2468880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3144" y="1664208"/>
            <a:ext cx="1993392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4. Audio Dispatch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GUARANTEED OUTPUT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Dual-Path Fallback Coordinator.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V8 GC utterance retention set.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40ms IPC settling de-collision.</a:t>
            </a:r>
          </a:p>
          <a:p>
            <a:pPr>
              <a:lnSpc>
                <a:spcPct val="112000"/>
              </a:lnSpc>
              <a:spcBef>
                <a:spcPts val="500"/>
              </a:spcBef>
              <a:defRPr sz="1400">
                <a:solidFill>
                  <a:srgbClr val="F8FAFC"/>
                </a:solidFill>
              </a:defRPr>
            </a:pPr>
            <a:r>
              <a:t>• Watchdog queue recovery.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HACKDEVENGERS 2.0 // VOICECHESSMATE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Rigorous Quality Assurance: 100% Automated CI Harness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074920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664208"/>
            <a:ext cx="4599432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Headless Web Speech Mock Infrastructure</a:t>
            </a:r>
          </a:p>
          <a:p>
            <a:pPr>
              <a:spcAft>
                <a:spcPts val="800"/>
              </a:spcAft>
              <a:defRPr sz="1000" b="1">
                <a:solidFill>
                  <a:srgbClr val="00E5FF"/>
                </a:solidFill>
              </a:defRPr>
            </a:pPr>
            <a:r>
              <a:t>CI/CD TEST HARNESS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50">
                <a:solidFill>
                  <a:srgbClr val="F8FAFC"/>
                </a:solidFill>
              </a:defRPr>
            </a:pPr>
            <a:r>
              <a:t>• Web Speech API only exists in graphical desktop browsers.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50">
                <a:solidFill>
                  <a:srgbClr val="F8FAFC"/>
                </a:solidFill>
              </a:defRPr>
            </a:pPr>
            <a:r>
              <a:t>• Built custom MockSpeechSynthesis and MockSpeechSynthesisUtterance for Node.js.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50">
                <a:solidFill>
                  <a:srgbClr val="F8FAFC"/>
                </a:solidFill>
              </a:defRPr>
            </a:pPr>
            <a:r>
              <a:t>• Accurately reproduces asynchronous audio event loops (start, end, error, voiceschanged).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50">
                <a:solidFill>
                  <a:srgbClr val="F8FAFC"/>
                </a:solidFill>
              </a:defRPr>
            </a:pPr>
            <a:r>
              <a:t>• Simulates adversarial conditions: rapid cancel-speak collisions and memory garbage collection stress.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50">
                <a:solidFill>
                  <a:srgbClr val="F8FAFC"/>
                </a:solidFill>
              </a:defRPr>
            </a:pPr>
            <a:r>
              <a:t>• Runs continuously in GitHub Actions CI without needing a display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074920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1384" y="1664208"/>
            <a:ext cx="4599432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Vitest Automated Pipeline Verification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100% VERIFIED PASS RATE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50">
                <a:solidFill>
                  <a:srgbClr val="F8FAFC"/>
                </a:solidFill>
              </a:defRPr>
            </a:pPr>
            <a:r>
              <a:t>• Dedicated test suite: speech-and-audio-pipeline.test.ts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50">
                <a:solidFill>
                  <a:srgbClr val="F8FAFC"/>
                </a:solidFill>
              </a:defRPr>
            </a:pPr>
            <a:r>
              <a:t>• R1 Verified: Utterances survive forced GC without dropping speech handlers.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50">
                <a:solidFill>
                  <a:srgbClr val="F8FAFC"/>
                </a:solidFill>
              </a:defRPr>
            </a:pPr>
            <a:r>
              <a:t>• R2 Verified: Cancel-speak calls with &lt;40ms delay are de-collided cleanly.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50">
                <a:solidFill>
                  <a:srgbClr val="F8FAFC"/>
                </a:solidFill>
              </a:defRPr>
            </a:pPr>
            <a:r>
              <a:t>• R3 Verified: Priority queue preemption and PTT interruption audio flush.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50">
                <a:solidFill>
                  <a:srgbClr val="F8FAFC"/>
                </a:solidFill>
              </a:defRPr>
            </a:pPr>
            <a:r>
              <a:t>• R4 Verified: Dual-path fallback engages within 1200ms timeout.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50">
                <a:solidFill>
                  <a:srgbClr val="F8FAFC"/>
                </a:solidFill>
              </a:defRPr>
            </a:pPr>
            <a:r>
              <a:t>• R5 Verified: IBCA prefixing verified and turn cue suppressed on game over.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50">
                <a:solidFill>
                  <a:srgbClr val="F8FAFC"/>
                </a:solidFill>
              </a:defRPr>
            </a:pPr>
            <a:r>
              <a:t>• Result: 221+ Tests Passing (100%) • 0 Errors • 0 Warnings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HACKDEVENGERS 2.0 // VOICECHESSMATE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Roadmap &amp; Vision: Making Chess Truly Accessible Globally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328416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664208"/>
            <a:ext cx="2852928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Phase 1: Hackathon Ready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HACKDEVENGERS 2.0 (COMPLETE)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Completed voice-first offline/online playable engine.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Stockfish 16 WASM AI opponent with adjustable ELO.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Dual-path zero-drop audio output guarantee.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Tactile hotkeys (D, T, O, C) and IBCA phonetic compliance.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100% automated test pass in CI.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64208"/>
            <a:ext cx="2852928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Phase 2: Global Matches</a:t>
            </a:r>
          </a:p>
          <a:p>
            <a:pPr>
              <a:spcAft>
                <a:spcPts val="800"/>
              </a:spcAft>
              <a:defRPr sz="1000" b="1">
                <a:solidFill>
                  <a:srgbClr val="00E5FF"/>
                </a:solidFill>
              </a:defRPr>
            </a:pPr>
            <a:r>
              <a:t>Q4 2026 MILESTONE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Live real-time voice matchmaking for visually impaired players.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Low-latency voice chess clock with auditory increment countdowns.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Lichess &amp; Chess.com API sync: Play rated games using VoiceChessmate as an accessible client.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1463040"/>
            <a:ext cx="3328416" cy="4892040"/>
          </a:xfrm>
          <a:prstGeom prst="roundRect">
            <a:avLst/>
          </a:prstGeom>
          <a:solidFill>
            <a:srgbClr val="0E1930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5" y="1664208"/>
            <a:ext cx="2852928" cy="4489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8FAFC"/>
                </a:solidFill>
              </a:defRPr>
            </a:pPr>
            <a:r>
              <a:t>Phase 3: Hardware Integration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2027 GLOBAL VISION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Bluetooth physical electronic chessboard support (DGT, Millennium).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Haptic sensory edge feedback for illegal moves and check alerts.</a:t>
            </a:r>
          </a:p>
          <a:p>
            <a:pPr>
              <a:lnSpc>
                <a:spcPct val="112000"/>
              </a:lnSpc>
              <a:spcBef>
                <a:spcPts val="600"/>
              </a:spcBef>
              <a:defRPr sz="1400">
                <a:solidFill>
                  <a:srgbClr val="F8FAFC"/>
                </a:solidFill>
              </a:defRPr>
            </a:pPr>
            <a:r>
              <a:t>• Multilingual phonetic speech engines (Spanish, French, German, Hindi).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